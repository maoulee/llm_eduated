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408 考研自适应出题系统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</a:defRPr>
            </a:pPr>
            <a:r>
              <a:t>Local LLM + Workflow Pipeline for Adaptive Exam Question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本地 Qwen3.6-27B + GLM 5.1 双模型对比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P1-P5 五遍知识抽取管线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  画像驱动 + 多角色出题工作流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系统架构总览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B86FC"/>
                </a:solidFill>
              </a:defRPr>
            </a:pPr>
            <a:r>
              <a:t>真题题库</a:t>
            </a:r>
            <a:br/>
            <a:r>
              <a:t>(200+题)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371600"/>
            <a:ext cx="18288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P1-P5</a:t>
            </a:r>
            <a:br/>
            <a:r>
              <a:t>知识抽取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18288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知识库</a:t>
            </a:r>
            <a:br/>
            <a:r>
              <a:t>(结构化)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18288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用户画像</a:t>
            </a:r>
            <a:br/>
            <a:r>
              <a:t>(6类典型)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18288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444"/>
                </a:solidFill>
              </a:defRPr>
            </a:pPr>
            <a:r>
              <a:t>出题工作流</a:t>
            </a:r>
            <a:br/>
            <a:r>
              <a:t>(5角色)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0" y="1371600"/>
            <a:ext cx="18288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B86FC"/>
                </a:solidFill>
              </a:defRPr>
            </a:pPr>
            <a:r>
              <a:t>验证+测试</a:t>
            </a:r>
            <a:br/>
            <a:r>
              <a:t>(Claude Team)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1691640"/>
            <a:ext cx="640080" cy="4572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297680" y="1691640"/>
            <a:ext cx="640080" cy="4572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309360" y="1691640"/>
            <a:ext cx="640080" cy="4572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321040" y="1691640"/>
            <a:ext cx="640080" cy="4572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0332720" y="1691640"/>
            <a:ext cx="640080" cy="45720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34747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模型性能对比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AAAABB"/>
                </a:solidFill>
              </a:defRPr>
            </a:pPr>
            <a:r>
              <a:t>Local Qwen3.6-27B vs GLM 5.1</a:t>
            </a:r>
          </a:p>
          <a:p>
            <a:pPr>
              <a:spcBef>
                <a:spcPts val="800"/>
              </a:spcBef>
              <a:defRPr sz="1400" b="0">
                <a:solidFill>
                  <a:srgbClr val="AAAABB"/>
                </a:solidFill>
              </a:defRPr>
            </a:pPr>
            <a:r>
              <a:t>本地模型 + 工作流 = 高吞吐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200400"/>
            <a:ext cx="34747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200" b="1">
                <a:solidFill>
                  <a:srgbClr val="00FF88"/>
                </a:solidFill>
              </a:defRPr>
            </a:pPr>
            <a:r>
              <a:t>知识抽取格式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AAAABB"/>
                </a:solidFill>
              </a:defRPr>
            </a:pPr>
            <a:r>
              <a:t>P1结构 → P2知识 → P3触发 → P4推理 → P5审核</a:t>
            </a:r>
          </a:p>
          <a:p>
            <a:pPr>
              <a:spcBef>
                <a:spcPts val="800"/>
              </a:spcBef>
              <a:defRPr sz="1400" b="0">
                <a:solidFill>
                  <a:srgbClr val="AAAABB"/>
                </a:solidFill>
              </a:defRPr>
            </a:pPr>
            <a:r>
              <a:t>五遍渐进式结构化抽取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200400"/>
            <a:ext cx="34747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200" b="1">
                <a:solidFill>
                  <a:srgbClr val="FF8C00"/>
                </a:solidFill>
              </a:defRPr>
            </a:pPr>
            <a:r>
              <a:t>出题工作流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AAAABB"/>
                </a:solidFill>
              </a:defRPr>
            </a:pPr>
            <a:r>
              <a:t>画像解读 → 蓝图规划 → 题目撰写 → 解题验证 → 用户模拟</a:t>
            </a:r>
          </a:p>
          <a:p>
            <a:pPr>
              <a:spcBef>
                <a:spcPts val="800"/>
              </a:spcBef>
              <a:defRPr sz="1400" b="0">
                <a:solidFill>
                  <a:srgbClr val="AAAABB"/>
                </a:solidFill>
              </a:defRPr>
            </a:pPr>
            <a:r>
              <a:t>串行多角色对抗管线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Part 1: 模型性能对比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Local Qwen3.6-27B-AWQ-INT4 (vLLM) vs GLM 5.1 (API)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Local Qwen3.6-27B (vLLM)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Batch 195题测试 (Dual Path Solver)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总正确率: 150/195 = 76.9%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概念路由: 89/100 = 89.0%</a:t>
            </a:r>
          </a:p>
          <a:p>
            <a:pPr>
              <a:spcBef>
                <a:spcPts val="400"/>
              </a:spcBef>
              <a:defRPr sz="1400" b="0">
                <a:solidFill>
                  <a:srgbClr val="FF8C00"/>
                </a:solidFill>
              </a:defRPr>
            </a:pPr>
            <a:r>
              <a:t>  代码路由: 61/95 = 64.2%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选择题: 150/164 = 91.5%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6题实验 (S1纯推理)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  S1推理: 2/6 = 33.3%</a:t>
            </a:r>
          </a:p>
          <a:p>
            <a:pPr>
              <a:spcBef>
                <a:spcPts val="400"/>
              </a:spcBef>
              <a:defRPr sz="1400" b="0">
                <a:solidFill>
                  <a:srgbClr val="FF8C00"/>
                </a:solidFill>
              </a:defRPr>
            </a:pPr>
            <a:r>
              <a:t>  S3增强: 3/6 = 50.0%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吞吐量优势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路由分类: 14.5 prompts/s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批量推理: ~20 questions/batch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零API成本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303520" cy="4846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B86FC"/>
                </a:solidFill>
              </a:defRPr>
            </a:pPr>
            <a:r>
              <a:t>GLM 5.1 (API)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6题直接推理对比</a:t>
            </a:r>
          </a:p>
          <a:p>
            <a:pPr>
              <a:spcBef>
                <a:spcPts val="400"/>
              </a:spcBef>
              <a:defRPr sz="1400" b="0">
                <a:solidFill>
                  <a:srgbClr val="00FF88"/>
                </a:solidFill>
              </a:defRPr>
            </a:pPr>
            <a:r>
              <a:t>  GLM直接推理: 3/6 = 50%</a:t>
            </a:r>
          </a:p>
          <a:p>
            <a:pPr>
              <a:spcBef>
                <a:spcPts val="400"/>
              </a:spcBef>
              <a:defRPr sz="1400" b="0">
                <a:solidFill>
                  <a:srgbClr val="FF8C00"/>
                </a:solidFill>
              </a:defRPr>
            </a:pPr>
            <a:r>
              <a:t>  平均耗时: ~71.5s/题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6题知识注入对比</a:t>
            </a:r>
          </a:p>
          <a:p>
            <a:pPr>
              <a:spcBef>
                <a:spcPts val="400"/>
              </a:spcBef>
              <a:defRPr sz="1400" b="0">
                <a:solidFill>
                  <a:srgbClr val="FF8C00"/>
                </a:solidFill>
              </a:defRPr>
            </a:pPr>
            <a:r>
              <a:t>  注入后推理: 3/6 = 50%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  注入耗时: ~153.2s/题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  知识注入未提升准确率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主观题表现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  31道主观题: 0/31 = 0%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  主观题评价能力有限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API限制</a:t>
            </a:r>
          </a:p>
          <a:p>
            <a:pPr>
              <a:spcBef>
                <a:spcPts val="400"/>
              </a:spcBef>
              <a:defRPr sz="1400" b="0">
                <a:solidFill>
                  <a:srgbClr val="FF4444"/>
                </a:solidFill>
              </a:defRPr>
            </a:pPr>
            <a:r>
              <a:t>  429速率限制 (并发受限)</a:t>
            </a:r>
          </a:p>
          <a:p>
            <a:pPr>
              <a:spcBef>
                <a:spcPts val="400"/>
              </a:spcBef>
              <a:defRPr sz="1400" b="0">
                <a:solidFill>
                  <a:srgbClr val="FF8C00"/>
                </a:solidFill>
              </a:defRPr>
            </a:pPr>
            <a:r>
              <a:t>  每题成本 ~¥0.02-0.05</a:t>
            </a:r>
          </a:p>
          <a:p>
            <a:pPr>
              <a:spcBef>
                <a:spcPts val="400"/>
              </a:spcBef>
              <a:defRPr sz="1400" b="0">
                <a:solidFill>
                  <a:srgbClr val="FF8C00"/>
                </a:solidFill>
              </a:defRPr>
            </a:pPr>
            <a:r>
              <a:t>  网络延迟 ~3-5s/请求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双路径求解器 (Dual Path Solver)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概念题走推理路径，计算题走推理+代码验证路径，GLM仲裁一致性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题目输入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B86FC"/>
                </a:solidFill>
              </a:defRPr>
            </a:pPr>
            <a:r>
              <a:t>路由分类</a:t>
            </a:r>
            <a:br/>
            <a:r>
              <a:t>(14.5/s)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概念路径</a:t>
            </a:r>
            <a:br/>
            <a:r>
              <a:t>(89.0%)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代码路径</a:t>
            </a:r>
            <a:br/>
            <a:r>
              <a:t>(64.2%)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一致性</a:t>
            </a:r>
            <a:br/>
            <a:r>
              <a:t>比较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444"/>
                </a:solidFill>
              </a:defRPr>
            </a:pPr>
            <a:r>
              <a:t>GLM</a:t>
            </a:r>
            <a:br/>
            <a:r>
              <a:t>仲裁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1645920"/>
            <a:ext cx="1645920" cy="10058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最终答案</a:t>
            </a:r>
            <a:br/>
            <a:r>
              <a:t>(76.9%)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D2FF"/>
                </a:solidFill>
              </a:defRPr>
            </a:pPr>
            <a:r>
              <a:t>195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总题数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76.9%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总正确率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89.0%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概念路由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64.2%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代码路由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91.5%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选择题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4444"/>
                </a:solidFill>
              </a:defRPr>
            </a:pPr>
            <a:r>
              <a:t>0%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主观题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3200400"/>
            <a:ext cx="14630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BB86FC"/>
                </a:solidFill>
              </a:defRPr>
            </a:pPr>
            <a:r>
              <a:t>29.7%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AAAABB"/>
                </a:solidFill>
              </a:defRPr>
            </a:pPr>
            <a:r>
              <a:t>双路一致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Key Insight: 本地模型通过批量推理 (vLLM batched) 实现高吞吐，概念题89%准确率接近GLM水平，但主观题评价仍是短板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88"/>
                </a:solidFill>
              </a:defRPr>
            </a:pPr>
            <a:r>
              <a:t>Part 2: 知识抽取管线 (P1-P5)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194560" cy="5212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P1  题目结构提取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解构题目为结构化要素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已知条件 / 求解目标 / 隐含约束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干扰项分析（错误类型+针对误解）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正确答案诊断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188720"/>
            <a:ext cx="2194560" cy="5212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</a:defRPr>
            </a:pPr>
            <a:r>
              <a:t>P2  知识单元提取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抽取基础知识和机制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knowledge: 概念/定义/公式/规则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mechanism: 机制如何影响推理路径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common_misunderstanding: 常见误解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194560" cy="5212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P3  触发规则提取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识别题干信号如何触发机制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source_signals: 关键词/条件/限定词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activation_condition: AND/OR逻辑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wrong_if_missing: 漏掉会犯什么错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diagnostic_value: 诊断价值评分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188720"/>
            <a:ext cx="2194560" cy="5212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P4  推理模式提取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抽取可复用的解题程序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steps: 有序原子操作序列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common_breakpoints: 易断点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can_verify_with_code: 可否代码验证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88720"/>
            <a:ext cx="2194560" cy="5212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4444"/>
                </a:solidFill>
              </a:defRPr>
            </a:pPr>
            <a:r>
              <a:t>P5  审核与验证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规则校验 + 领域审核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RuleChecker: schema/一致性/引用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DomainCritic: 学术正确性审查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readiness: candidate/verified/rejected</a:t>
            </a:r>
          </a:p>
          <a:p>
            <a:pPr>
              <a:spcBef>
                <a:spcPts val="300"/>
              </a:spcBef>
              <a:defRPr sz="1100" b="0">
                <a:solidFill>
                  <a:srgbClr val="AAAABB"/>
                </a:solidFill>
              </a:defRPr>
            </a:pPr>
            <a:r>
              <a:t>- confidence: 0-1置信度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88"/>
                </a:solidFill>
              </a:defRPr>
            </a:pPr>
            <a:r>
              <a:t>知识抽取输出示例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400800" cy="530352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FF88"/>
                </a:solidFill>
                <a:latin typeface="Courier New"/>
              </a:defRPr>
            </a:pPr>
            <a:r>
              <a:t>{</a:t>
            </a:r>
            <a:br/>
            <a:r>
              <a:t>  "P1_structure": {</a:t>
            </a:r>
            <a:br/>
            <a:r>
              <a:t>    "given": ["5段流水线 IF/ID/EX/MEM/WB", "EX阶段转发", "无MEM转发"],</a:t>
            </a:r>
            <a:br/>
            <a:r>
              <a:t>    "asked": "最小气泡总数",</a:t>
            </a:r>
            <a:br/>
            <a:r>
              <a:t>    "distractors": {</a:t>
            </a:r>
            <a:br/>
            <a:r>
              <a:t>      "A(1个)": "忘记无MEM转发",</a:t>
            </a:r>
            <a:br/>
            <a:r>
              <a:t>      "C(3个)": "混淆RAW/WAR"</a:t>
            </a:r>
            <a:br/>
            <a:r>
              <a:t>    }</a:t>
            </a:r>
            <a:br/>
            <a:r>
              <a:t>  },</a:t>
            </a:r>
            <a:br/>
            <a:r>
              <a:t>  "P2_knowledge": [</a:t>
            </a:r>
            <a:br/>
            <a:r>
              <a:t>    {"name": "RAW数据冒险", "type": "mechanism"},</a:t>
            </a:r>
            <a:br/>
            <a:r>
              <a:t>    {"name": "转发技术", "type": "mechanism"}</a:t>
            </a:r>
            <a:br/>
            <a:r>
              <a:t>  ],</a:t>
            </a:r>
            <a:br/>
            <a:r>
              <a:t>  "P3_triggers": [</a:t>
            </a:r>
            <a:br/>
            <a:r>
              <a:t>    {"signal": "lw后紧跟使用", "activates": "Load-Use冒险"},</a:t>
            </a:r>
            <a:br/>
            <a:r>
              <a:t>    {"signal": "无MEM转发", "activates": "额外1个气泡"}</a:t>
            </a:r>
            <a:br/>
            <a:r>
              <a:t>  ],</a:t>
            </a:r>
            <a:br/>
            <a:r>
              <a:t>  "P4_pattern": {</a:t>
            </a:r>
            <a:br/>
            <a:r>
              <a:t>    "steps": ["识别依赖→计算气泡→汇总"],</a:t>
            </a:r>
            <a:br/>
            <a:r>
              <a:t>    "breakpoints": ["MEM转发缺失容易被忽略"]</a:t>
            </a:r>
            <a:br/>
            <a:r>
              <a:t>  },</a:t>
            </a:r>
            <a:br/>
            <a:r>
              <a:t>  "P5_review": {</a:t>
            </a:r>
            <a:br/>
            <a:r>
              <a:t>    "status": "verified",</a:t>
            </a:r>
            <a:br/>
            <a:r>
              <a:t>    "confidence": 0.95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188720"/>
            <a:ext cx="475488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P1 题目结构</a:t>
            </a:r>
          </a:p>
          <a:p>
            <a:pPr>
              <a:spcBef>
                <a:spcPts val="400"/>
              </a:spcBef>
              <a:defRPr sz="1200" b="0">
                <a:solidFill>
                  <a:srgbClr val="AAAABB"/>
                </a:solidFill>
              </a:defRPr>
            </a:pPr>
            <a:r>
              <a:t>将自然语言题目拆解为已知条件、求解目标、干扰项分析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240280"/>
            <a:ext cx="475488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P2 知识单元</a:t>
            </a:r>
          </a:p>
          <a:p>
            <a:pPr>
              <a:spcBef>
                <a:spcPts val="400"/>
              </a:spcBef>
              <a:defRPr sz="1200" b="0">
                <a:solidFill>
                  <a:srgbClr val="AAAABB"/>
                </a:solidFill>
              </a:defRPr>
            </a:pPr>
            <a:r>
              <a:t>识别涉及的基础概念(definition)和推理机制(mechanism)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291839"/>
            <a:ext cx="475488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P3 触发规则</a:t>
            </a:r>
          </a:p>
          <a:p>
            <a:pPr>
              <a:spcBef>
                <a:spcPts val="400"/>
              </a:spcBef>
              <a:defRPr sz="1200" b="0">
                <a:solidFill>
                  <a:srgbClr val="AAAABB"/>
                </a:solidFill>
              </a:defRPr>
            </a:pPr>
            <a:r>
              <a:t>建立题干信号→机制激活的映射关系，含诊断价值评分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343400"/>
            <a:ext cx="475488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B86FC"/>
                </a:solidFill>
              </a:defRPr>
            </a:pPr>
            <a:r>
              <a:t>P4 推理模式</a:t>
            </a:r>
          </a:p>
          <a:p>
            <a:pPr>
              <a:spcBef>
                <a:spcPts val="400"/>
              </a:spcBef>
              <a:defRPr sz="1200" b="0">
                <a:solidFill>
                  <a:srgbClr val="AAAABB"/>
                </a:solidFill>
              </a:defRPr>
            </a:pPr>
            <a:r>
              <a:t>提取可复用的分步解题程序，标注易错断点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394959"/>
            <a:ext cx="475488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444"/>
                </a:solidFill>
              </a:defRPr>
            </a:pPr>
            <a:r>
              <a:t>P5 审核验证</a:t>
            </a:r>
          </a:p>
          <a:p>
            <a:pPr>
              <a:spcBef>
                <a:spcPts val="400"/>
              </a:spcBef>
              <a:defRPr sz="1200" b="0">
                <a:solidFill>
                  <a:srgbClr val="AAAABB"/>
                </a:solidFill>
              </a:defRPr>
            </a:pPr>
            <a:r>
              <a:t>规则校验+领域审核，输出就绪度评估和置信度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8C00"/>
                </a:solidFill>
              </a:defRPr>
            </a:pPr>
            <a:r>
              <a:t>Part 3: 用户画像构建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基于历史错题提取的薄弱点，构建6类典型学生画像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P1  浮点数运算</a:t>
            </a:r>
            <a:br/>
            <a:r>
              <a:t>混淆型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核心薄弱点: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算术/逻辑右移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双符号位溢出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</a:defRPr>
            </a:pPr>
            <a:r>
              <a:t>P2  Cache映射</a:t>
            </a:r>
            <a:br/>
            <a:r>
              <a:t>混淆型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核心薄弱点: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组号计算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Tag位开销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P3  流水线冒险</a:t>
            </a:r>
            <a:br/>
            <a:r>
              <a:t>识别失败型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核心薄弱点: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RAW阻塞计算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单总线约束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4444"/>
                </a:solidFill>
              </a:defRPr>
            </a:pPr>
            <a:r>
              <a:t>P4  中断总线</a:t>
            </a:r>
            <a:br/>
            <a:r>
              <a:t>概念模糊型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核心薄弱点: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中断服务顺序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数据线传输内容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11480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P5  指令系统</a:t>
            </a:r>
            <a:br/>
            <a:r>
              <a:t>寻址计算型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核心薄弱点: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字段位数分配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寻址范围计算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114800"/>
            <a:ext cx="34747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CC"/>
                </a:solidFill>
              </a:defRPr>
            </a:pPr>
            <a:r>
              <a:t>P6  存储器</a:t>
            </a:r>
            <a:br/>
            <a:r>
              <a:t>交叉编址型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核心薄弱点: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体号计算</a:t>
            </a:r>
          </a:p>
          <a:p>
            <a:pPr>
              <a:spcBef>
                <a:spcPts val="200"/>
              </a:spcBef>
              <a:defRPr sz="1200" b="0">
                <a:solidFill>
                  <a:srgbClr val="AAAABB"/>
                </a:solidFill>
              </a:defRPr>
            </a:pPr>
            <a:r>
              <a:t>  DRAM阵列选择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400800"/>
            <a:ext cx="11247120" cy="27432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AAAABB"/>
                </a:solidFill>
              </a:defRPr>
            </a:pPr>
            <a:r>
              <a:t>画像字段: error_history(历史错题) → mastery_info(已掌握/薄弱) → training_goal(训练目标) → target_knowledge(目标知识点)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8C00"/>
                </a:solidFill>
              </a:defRPr>
            </a:pPr>
            <a:r>
              <a:t>出题工作流: 5角色串行管线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ProfileInterpreter 画像解读器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职责: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解读用户历史错题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生成画像摘要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识别核心薄弱点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0972800" y="914400"/>
            <a:ext cx="457200" cy="36576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468880"/>
            <a:ext cx="1161288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</a:defRPr>
            </a:pPr>
            <a:r>
              <a:t>BlueprintPlanner 蓝图规划器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职责: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基于画像+知识库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规划诊断性题目蓝图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设计干扰项策略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972800" y="3108960"/>
            <a:ext cx="457200" cy="36576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4663440"/>
            <a:ext cx="1161288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QuestionWriter 题目撰写器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职责: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按蓝图生成408风格题目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确保真题风格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计算数值精确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0972800" y="5303520"/>
            <a:ext cx="457200" cy="36576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6858000"/>
            <a:ext cx="1161288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SolverVerifier 解题验证器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职责: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独立盲解验证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检查答案唯一性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发现歧义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972800" y="7498080"/>
            <a:ext cx="457200" cy="36576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9052560"/>
            <a:ext cx="11612880" cy="19202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4444"/>
                </a:solidFill>
              </a:defRPr>
            </a:pPr>
            <a:r>
              <a:t>UserSimulator 用户模拟器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职责: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按画像模拟薄弱学生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验证是否触发目标错误</a:t>
            </a:r>
          </a:p>
          <a:p>
            <a:pPr>
              <a:spcBef>
                <a:spcPts val="100"/>
              </a:spcBef>
              <a:defRPr sz="1100" b="0">
                <a:solidFill>
                  <a:srgbClr val="AAAABB"/>
                </a:solidFill>
              </a:defRPr>
            </a:pPr>
            <a:r>
              <a:t>  评估题目诊断效果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972800" y="9692640"/>
            <a:ext cx="457200" cy="365760"/>
          </a:xfrm>
          <a:prstGeom prst="rightArrow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6492240"/>
            <a:ext cx="6400800" cy="274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D2FF"/>
                </a:solidFill>
              </a:defRPr>
            </a:pPr>
            <a:r>
              <a:t>GenerationAggregator: solver一致 → 用户模拟匹配 → accept_candidate | 不一致 → reject/revise (最多2轮)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00"/>
                </a:solidFill>
              </a:defRPr>
            </a:pPr>
            <a:r>
              <a:t>出题结果演示: P1浮点数+Cache混合主观题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685800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题干 (20分)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某计算机中，浮点数采用IEEE 754单精度格式（1+8+23位，偏置值127）。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Cache采用直接映射方式，数据区共128行，每行16字节。按字节编址。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程序中有以下变量：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    float a = -13.75, b = 7.375;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    float c;  c = a - b;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已知变量c存储在地址0x0848，变量a存储在地址0x0800。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（1）（8分）将a和b分别转换为IEEE 754单精度浮点数（十六进制表示）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（2）（8分）用变形补码（双符号位）演示a-b的尾数运算，给出规格化后的双符号位</a:t>
            </a:r>
          </a:p>
          <a:p>
            <a:pPr>
              <a:spcBef>
                <a:spcPts val="300"/>
              </a:spcBef>
              <a:defRPr sz="1200" b="0">
                <a:solidFill>
                  <a:srgbClr val="FFFFFF"/>
                </a:solidFill>
              </a:defRPr>
            </a:pPr>
            <a:r>
              <a:t>（3）（4分）分别计算a和c所在Cache行号，判断是否冲突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005840"/>
            <a:ext cx="457200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参考答案 (CodeSolver验证通过)</a:t>
            </a:r>
          </a:p>
          <a:p>
            <a:pPr>
              <a:spcBef>
                <a:spcPts val="1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小题1: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a = 0xC15C0000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b = 0x40EC0000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a-b = 0xC1A90000</a:t>
            </a:r>
          </a:p>
          <a:p>
            <a:pPr>
              <a:spcBef>
                <a:spcPts val="1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小题2: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A补码: 11.01001000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B移位: 00.01101100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求和:  11.10110100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双符号位: 11 (负无溢出)</a:t>
            </a:r>
          </a:p>
          <a:p>
            <a:pPr>
              <a:spcBef>
                <a:spcPts val="1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小题3: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a → Cache行0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c → Cache行4</a:t>
            </a:r>
          </a:p>
          <a:p>
            <a:pPr>
              <a:spcBef>
                <a:spcPts val="200"/>
              </a:spcBef>
              <a:defRPr sz="1100" b="0">
                <a:solidFill>
                  <a:srgbClr val="AAAABB"/>
                </a:solidFill>
              </a:defRPr>
            </a:pPr>
            <a:r>
              <a:t>  无冲突</a:t>
            </a:r>
          </a:p>
          <a:p>
            <a:pPr>
              <a:spcBef>
                <a:spcPts val="1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Pipeline验证:</a:t>
            </a:r>
          </a:p>
          <a:p>
            <a:pPr>
              <a:spcBef>
                <a:spcPts val="200"/>
              </a:spcBef>
              <a:defRPr sz="1100" b="0">
                <a:solidFill>
                  <a:srgbClr val="00FF88"/>
                </a:solidFill>
              </a:defRPr>
            </a:pPr>
            <a:r>
              <a:t>  CodeSolver: 全部通过</a:t>
            </a:r>
          </a:p>
          <a:p>
            <a:pPr>
              <a:spcBef>
                <a:spcPts val="200"/>
              </a:spcBef>
              <a:defRPr sz="1100" b="0">
                <a:solidFill>
                  <a:srgbClr val="00FF88"/>
                </a:solidFill>
              </a:defRPr>
            </a:pPr>
            <a:r>
              <a:t>  Reviewer: 通过</a:t>
            </a:r>
          </a:p>
          <a:p>
            <a:pPr>
              <a:spcBef>
                <a:spcPts val="200"/>
              </a:spcBef>
              <a:defRPr sz="1100" b="0">
                <a:solidFill>
                  <a:srgbClr val="00FF88"/>
                </a:solidFill>
              </a:defRPr>
            </a:pPr>
            <a:r>
              <a:t>  Solver盲解: 6/6匹配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FF88"/>
                </a:solidFill>
              </a:defRPr>
            </a:pPr>
            <a:r>
              <a:t>已实现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P1-P5 五遍渐进式知识抽取管线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6类典型学生画像 (浮点/Cache/流水线/中断/指令/存储器)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5角色串行出题工作流 (解读→规划→撰写→验证→模拟)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双路径求解器 (概念路由89% + 代码路由64%)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195题批量测试 (选择题91.5%)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Claude Agent Team 模拟验证流程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8C00"/>
                </a:solidFill>
              </a:defRPr>
            </a:pPr>
            <a:r>
              <a:t>待改进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主观题评分能力 (当前0/31)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Markdown输出格式替代JSON (减少解析失败)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Streaming Pipeline (vLLM抽取→GLM审核并发)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更多知识点混合出题 (跨科目)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难度自适应调整 (基于模拟结果反馈)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</a:defRPr>
            </a:pPr>
            <a:r>
              <a:t>  实际学生测试验证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AAAABB"/>
                </a:solidFill>
              </a:defRPr>
            </a:pPr>
            <a:r>
              <a:t>Tech Stack: Qwen3.6-27B (vLLM) + GLM 5.1 (API) + Claude Agent Team (验证) | Python + asyncio + OpenAI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